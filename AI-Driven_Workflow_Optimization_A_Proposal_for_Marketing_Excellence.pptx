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here to talk about a game-changer for marketing agencies: AI-driven workflow optimization. This isn't just about using AI; it's about strategically integrating it to transform how we operate. Our focus is on enhancing productivity and consistency, especially for our fitness brand clients. We'll show you how a specialized AI prompt library can automate and support core marketing functions, giving us a significant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address the elephant in the room: inefficiency in modern marketing. Manual content creation and reporting are huge bottlenecks, eating up valuable time and resources. We often see inconsistent messaging across channels, which dilutes brand impact. We need a scalable solution that maintains quality while dramatically increasing output. Our goal is to shift from manual execution to AI-assisted strategic management, freeing up our teams for higher-value work. This transition is key to unlocking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tackle these inefficiencies? The answer lies in the power of structured prompting. We're moving beyond simple AI requests to detailed, role-based instructions. This means incorporating specific roles, like an SEO Specialist or Content Writer, directly into our prompts, along with clear constraints. Every prompt is anchored in the fitness brand context, ensuring maximum relevance and consistency. The result? More professional, ready-to-use outputs from AI models, significantly reducing editing time and boosting our efficiency. Better prompts truly lead to better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power of structured prompting, let's look at social media and content marketing excellence. We're using role-based prompts to generate Instagram posts complete with captions, hashtags, and CTAs, all tailored for fitness enthusiasts. For blogs, we're moving from basic requests to structured 400-500 word articles with optimized headers and tips. This allows for rapid generation of platform-specific content that truly resonates. We're talking about reducing content drafting time by up to 70%, which is a massive efficiency gain. This speed and relevance are critical for staying competitive.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Extending this precision, we apply the same structured prompting to paid ads and email communication. We're creating high-conversion ad copy that highlights specific product benefits and includes clear calls to action. For email marketing, we're generating professional subject lines and persuasive body copy for fitness product promotions. This ensures brand voice remains uniform across all direct-to-consumer channels. Plus, we can quickly generate multiple ad variations to support A/B testing and optimize performance. This level of precision messaging at scale ensures every word works for our clients' brands.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moving beyond just crafting messages, we're talking about using AI to truly understand the market. This means we can generate detailed customer personas, giving us a clear picture of who we're talking to. We're also leveraging AI for systematic competitor analysis, uncovering strengths and weaknesses in the fitness landscape. And for SEO, AI helps us with expert-level keyword generation, ensuring our content always reaches the right audience. This transforms raw data into actionable business intelligence, giving us a real strategic edge. Next, we'll see how this intelligence fuels our campaign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market intelligence, this is where AI truly streamlines our campaign planning and performance analysis. We're talking about automated content calendars, giving us diverse post ideas and platform-specific strategies for a full week. AI also helps us generate professional client proposals, clearly outlining goals and expected outcomes. And crucially, it provides AI-assisted insights from campaign data, turning raw numbers into actionable suggestions for improvement. This creates a seamless operational flow, from planning right through to execution and reporting. But with all this power, we need to talk about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incredible capabilities of AI, we must also address the potential risks head-on. We recognize the potential for generic responses or even factual inaccuracies in AI outputs. Our mitigation strategy is clear: mandatory human review and editing for all AI-generated content. This ensures brand voice and accuracy are always maintained. We use the prompt library as a foundation, not a replacement for our marketing expertise. This commitment to responsible, supervised AI integration guarantees brand authenticity across all channels. So, what does all this mean for your bottom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see the tangible benefits and the return on investment. We're talking about significant time savings, drastically reducing hours spent on repetitive drafting and planning. This boosts productivity, allowing our team to focus on high-level strategy and crucial client relationships. The prompt library also offers incredible scalability, letting us handle more clients without increasing headcount. And finally, it ensures consistent, high-quality output across all marketing touchpoints, reinforcing brand authority. This isn't just about saving time; it's about creating capacity for exponential agency growth. So, let's bring it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this AI prompt library offers a practical, scalable path to growth for your agency. We're talking about standardized marketing workflows, all underpinned by human-in-the-loop quality control. Our vision is to position your agency at the forefront of AI-integrated marketing services. We're ready to transform your marketing workflow today. Let's make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062828"/>
            <a:ext cx="5715000" cy="1508727"/>
          </a:xfrm>
          <a:prstGeom prst="rect">
            <a:avLst/>
          </a:prstGeom>
          <a:noFill/>
          <a:ln/>
        </p:spPr>
        <p:txBody>
          <a:bodyPr wrap="square" lIns="0" tIns="0" rIns="0" bIns="0" rtlCol="0" anchor="t">
            <a:spAutoFit/>
          </a:bodyPr>
          <a:lstStyle/>
          <a:p>
            <a:pPr algn="l" indent="0" marL="0">
              <a:lnSpc>
                <a:spcPts val="4000"/>
              </a:lnSpc>
              <a:buNone/>
            </a:pPr>
            <a:r>
              <a:rPr lang="en-US" sz="3294" b="1" i="1" dirty="0">
                <a:solidFill>
                  <a:srgbClr val="0D1B2A"/>
                </a:solidFill>
                <a:latin typeface="Montserrat" pitchFamily="34" charset="0"/>
                <a:ea typeface="Montserrat" pitchFamily="34" charset="-122"/>
                <a:cs typeface="Montserrat" pitchFamily="34" charset="-120"/>
              </a:rPr>
              <a:t>AI-DRIVEN </a:t>
            </a:r>
            <a:r>
              <a:rPr lang="en-US" sz="3294" b="1" i="1" dirty="0">
                <a:solidFill>
                  <a:srgbClr val="0D1B2A"/>
                </a:solidFill>
                <a:latin typeface="Montserrat" pitchFamily="34" charset="0"/>
                <a:ea typeface="Montserrat" pitchFamily="34" charset="-122"/>
                <a:cs typeface="Montserrat" pitchFamily="34" charset="-120"/>
              </a:rPr>
              <a:t>WORKFLOW</a:t>
            </a:r>
            <a:r>
              <a:rPr lang="en-US" sz="3294" b="1" i="1" dirty="0">
                <a:solidFill>
                  <a:srgbClr val="0D1B2A"/>
                </a:solidFill>
                <a:latin typeface="Montserrat" pitchFamily="34" charset="0"/>
                <a:ea typeface="Montserrat" pitchFamily="34" charset="-122"/>
                <a:cs typeface="Montserrat" pitchFamily="34" charset="-120"/>
              </a:rPr>
              <a:t>
</a:t>
            </a:r>
            <a:r>
              <a:rPr lang="en-US" sz="3294" b="1" i="1" dirty="0">
                <a:solidFill>
                  <a:srgbClr val="0D1B2A"/>
                </a:solidFill>
                <a:latin typeface="Montserrat" pitchFamily="34" charset="0"/>
                <a:ea typeface="Montserrat" pitchFamily="34" charset="-122"/>
                <a:cs typeface="Montserrat" pitchFamily="34" charset="-120"/>
              </a:rPr>
              <a:t>OPTIMIZATION</a:t>
            </a:r>
            <a:endParaRPr lang="en-US" sz="3294" dirty="0"/>
          </a:p>
        </p:txBody>
      </p:sp>
      <p:sp>
        <p:nvSpPr>
          <p:cNvPr id="5" name="Text 1"/>
          <p:cNvSpPr/>
          <p:nvPr/>
        </p:nvSpPr>
        <p:spPr>
          <a:xfrm>
            <a:off x="571500" y="2714430"/>
            <a:ext cx="5715000" cy="278606"/>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B263B"/>
                </a:solidFill>
                <a:latin typeface="Montserrat" pitchFamily="34" charset="0"/>
                <a:ea typeface="Montserrat" pitchFamily="34" charset="-122"/>
                <a:cs typeface="Montserrat" pitchFamily="34" charset="-120"/>
              </a:rPr>
              <a:t>A Proposal for Marketing Excellence</a:t>
            </a:r>
            <a:endParaRPr lang="en-US" sz="1602" dirty="0"/>
          </a:p>
        </p:txBody>
      </p:sp>
      <p:sp>
        <p:nvSpPr>
          <p:cNvPr id="6" name="Shape 2"/>
          <p:cNvSpPr/>
          <p:nvPr/>
        </p:nvSpPr>
        <p:spPr>
          <a:xfrm>
            <a:off x="571500" y="3564536"/>
            <a:ext cx="5122069" cy="516136"/>
          </a:xfrm>
          <a:prstGeom prst="rect">
            <a:avLst/>
          </a:prstGeom>
          <a:solidFill>
            <a:srgbClr val="FFFFFF"/>
          </a:solidFill>
          <a:ln w="27432">
            <a:solidFill>
              <a:srgbClr val="0D1B2A"/>
            </a:solidFill>
            <a:prstDash val="solid"/>
          </a:ln>
        </p:spPr>
      </p:sp>
      <p:sp>
        <p:nvSpPr>
          <p:cNvPr id="7" name="Text 3"/>
          <p:cNvSpPr/>
          <p:nvPr/>
        </p:nvSpPr>
        <p:spPr>
          <a:xfrm>
            <a:off x="785813" y="3735986"/>
            <a:ext cx="4636294"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Transforming agency productivity through specialized AI prompting.</a:t>
            </a:r>
            <a:endParaRPr lang="en-US" sz="987" dirty="0"/>
          </a:p>
        </p:txBody>
      </p:sp>
      <p:sp>
        <p:nvSpPr>
          <p:cNvPr id="8" name="Text 4"/>
          <p:cNvSpPr/>
          <p:nvPr/>
        </p:nvSpPr>
        <p:spPr>
          <a:xfrm>
            <a:off x="571500" y="4720233"/>
            <a:ext cx="2543175" cy="13751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1B263B"/>
                </a:solidFill>
                <a:latin typeface="Inter" pitchFamily="34" charset="0"/>
                <a:ea typeface="Inter" pitchFamily="34" charset="-122"/>
                <a:cs typeface="Inter" pitchFamily="34" charset="-120"/>
              </a:rPr>
              <a:t>Consultancy Proposal | Fitness Brand Strategy</a:t>
            </a:r>
            <a:endParaRPr lang="en-US" sz="83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7286625"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ADDRESSING INEFFICIENCY IN MODERN MARKETING</a:t>
            </a:r>
            <a:endParaRPr lang="en-US" sz="2436" dirty="0"/>
          </a:p>
        </p:txBody>
      </p:sp>
      <p:sp>
        <p:nvSpPr>
          <p:cNvPr id="5" name="Text 1"/>
          <p:cNvSpPr/>
          <p:nvPr/>
        </p:nvSpPr>
        <p:spPr>
          <a:xfrm>
            <a:off x="571500" y="1468710"/>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Problem Identification</a:t>
            </a:r>
            <a:endParaRPr lang="en-US" sz="1193" dirty="0"/>
          </a:p>
        </p:txBody>
      </p:sp>
      <p:sp>
        <p:nvSpPr>
          <p:cNvPr id="6" name="Text 2"/>
          <p:cNvSpPr/>
          <p:nvPr/>
        </p:nvSpPr>
        <p:spPr>
          <a:xfrm>
            <a:off x="571500" y="1749103"/>
            <a:ext cx="342900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Manual content creation and reporting are time-consuming bottlenecks that reduce overall agency productivity.</a:t>
            </a:r>
            <a:endParaRPr lang="en-US" sz="942" dirty="0"/>
          </a:p>
        </p:txBody>
      </p:sp>
      <p:sp>
        <p:nvSpPr>
          <p:cNvPr id="7" name="Text 3"/>
          <p:cNvSpPr/>
          <p:nvPr/>
        </p:nvSpPr>
        <p:spPr>
          <a:xfrm>
            <a:off x="4429125" y="1468710"/>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Workflow Gaps</a:t>
            </a:r>
            <a:endParaRPr lang="en-US" sz="1193" dirty="0"/>
          </a:p>
        </p:txBody>
      </p:sp>
      <p:sp>
        <p:nvSpPr>
          <p:cNvPr id="8" name="Text 4"/>
          <p:cNvSpPr/>
          <p:nvPr/>
        </p:nvSpPr>
        <p:spPr>
          <a:xfrm>
            <a:off x="4429125" y="1749103"/>
            <a:ext cx="34290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Inconsistent messaging across social media, blogs, and email campaigns leads to brand dilution.</a:t>
            </a:r>
            <a:endParaRPr lang="en-US" sz="942" dirty="0"/>
          </a:p>
        </p:txBody>
      </p:sp>
      <p:sp>
        <p:nvSpPr>
          <p:cNvPr id="9" name="Text 5"/>
          <p:cNvSpPr/>
          <p:nvPr/>
        </p:nvSpPr>
        <p:spPr>
          <a:xfrm>
            <a:off x="571500" y="3009193"/>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Strategic Need</a:t>
            </a:r>
            <a:endParaRPr lang="en-US" sz="1193" dirty="0"/>
          </a:p>
        </p:txBody>
      </p:sp>
      <p:sp>
        <p:nvSpPr>
          <p:cNvPr id="10" name="Text 6"/>
          <p:cNvSpPr/>
          <p:nvPr/>
        </p:nvSpPr>
        <p:spPr>
          <a:xfrm>
            <a:off x="571500" y="3289585"/>
            <a:ext cx="34290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A scalable solution is required to maintain quality while increasing output volume for fitness brand clients.</a:t>
            </a:r>
            <a:endParaRPr lang="en-US" sz="942" dirty="0"/>
          </a:p>
        </p:txBody>
      </p:sp>
      <p:sp>
        <p:nvSpPr>
          <p:cNvPr id="11" name="Text 7"/>
          <p:cNvSpPr/>
          <p:nvPr/>
        </p:nvSpPr>
        <p:spPr>
          <a:xfrm>
            <a:off x="4429125" y="3009193"/>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Primary Goal</a:t>
            </a:r>
            <a:endParaRPr lang="en-US" sz="1193" dirty="0"/>
          </a:p>
        </p:txBody>
      </p:sp>
      <p:sp>
        <p:nvSpPr>
          <p:cNvPr id="12" name="Text 8"/>
          <p:cNvSpPr/>
          <p:nvPr/>
        </p:nvSpPr>
        <p:spPr>
          <a:xfrm>
            <a:off x="4429125" y="3289585"/>
            <a:ext cx="34290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Transition from manual execution to AI-assisted strategic management to unlock higher value work.</a:t>
            </a:r>
            <a:endParaRPr lang="en-US" sz="942" dirty="0"/>
          </a:p>
        </p:txBody>
      </p:sp>
      <p:sp>
        <p:nvSpPr>
          <p:cNvPr id="13" name="Shape 9"/>
          <p:cNvSpPr/>
          <p:nvPr/>
        </p:nvSpPr>
        <p:spPr>
          <a:xfrm>
            <a:off x="571500" y="4201083"/>
            <a:ext cx="4941689" cy="516136"/>
          </a:xfrm>
          <a:prstGeom prst="rect">
            <a:avLst/>
          </a:prstGeom>
          <a:solidFill>
            <a:srgbClr val="FFFFFF"/>
          </a:solidFill>
          <a:ln w="27432">
            <a:solidFill>
              <a:srgbClr val="0D1B2A"/>
            </a:solidFill>
            <a:prstDash val="solid"/>
          </a:ln>
        </p:spPr>
      </p:sp>
      <p:sp>
        <p:nvSpPr>
          <p:cNvPr id="14" name="Text 10"/>
          <p:cNvSpPr/>
          <p:nvPr/>
        </p:nvSpPr>
        <p:spPr>
          <a:xfrm>
            <a:off x="785813" y="4343958"/>
            <a:ext cx="4455914"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Inefficiency is the silent killer of agency growth. AI is the antidote.</a:t>
            </a:r>
            <a:endParaRPr lang="en-US" sz="98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000125" y="428625"/>
            <a:ext cx="6858000"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THE POWER OF STRUCTURED PROMPTING</a:t>
            </a:r>
            <a:endParaRPr lang="en-US" sz="2436" dirty="0"/>
          </a:p>
        </p:txBody>
      </p:sp>
      <p:sp>
        <p:nvSpPr>
          <p:cNvPr id="5" name="Text 1"/>
          <p:cNvSpPr/>
          <p:nvPr/>
        </p:nvSpPr>
        <p:spPr>
          <a:xfrm>
            <a:off x="1000125" y="1468710"/>
            <a:ext cx="321468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457B9D"/>
                </a:solidFill>
                <a:latin typeface="Montserrat" pitchFamily="34" charset="0"/>
                <a:ea typeface="Montserrat" pitchFamily="34" charset="-122"/>
                <a:cs typeface="Montserrat" pitchFamily="34" charset="-120"/>
              </a:rPr>
              <a:t>Evolution of Prompts</a:t>
            </a:r>
            <a:endParaRPr lang="en-US" sz="1193" dirty="0"/>
          </a:p>
        </p:txBody>
      </p:sp>
      <p:sp>
        <p:nvSpPr>
          <p:cNvPr id="6" name="Text 2"/>
          <p:cNvSpPr/>
          <p:nvPr/>
        </p:nvSpPr>
        <p:spPr>
          <a:xfrm>
            <a:off x="1000125" y="1749103"/>
            <a:ext cx="3214688"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Moving from simple requests to role-based, detailed AI instructions that ensure high-quality outputs.</a:t>
            </a:r>
            <a:endParaRPr lang="en-US" sz="942" dirty="0"/>
          </a:p>
        </p:txBody>
      </p:sp>
      <p:sp>
        <p:nvSpPr>
          <p:cNvPr id="7" name="Text 3"/>
          <p:cNvSpPr/>
          <p:nvPr/>
        </p:nvSpPr>
        <p:spPr>
          <a:xfrm>
            <a:off x="4643438" y="1468710"/>
            <a:ext cx="321468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457B9D"/>
                </a:solidFill>
                <a:latin typeface="Montserrat" pitchFamily="34" charset="0"/>
                <a:ea typeface="Montserrat" pitchFamily="34" charset="-122"/>
                <a:cs typeface="Montserrat" pitchFamily="34" charset="-120"/>
              </a:rPr>
              <a:t>Key Components</a:t>
            </a:r>
            <a:endParaRPr lang="en-US" sz="1193" dirty="0"/>
          </a:p>
        </p:txBody>
      </p:sp>
      <p:sp>
        <p:nvSpPr>
          <p:cNvPr id="8" name="Text 4"/>
          <p:cNvSpPr/>
          <p:nvPr/>
        </p:nvSpPr>
        <p:spPr>
          <a:xfrm>
            <a:off x="4643438" y="1749103"/>
            <a:ext cx="3214688"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Incorporating specific roles (e.g., SEO Specialist, Content Writer) and clear constraints into every prompt.</a:t>
            </a:r>
            <a:endParaRPr lang="en-US" sz="942" dirty="0"/>
          </a:p>
        </p:txBody>
      </p:sp>
      <p:sp>
        <p:nvSpPr>
          <p:cNvPr id="9" name="Text 5"/>
          <p:cNvSpPr/>
          <p:nvPr/>
        </p:nvSpPr>
        <p:spPr>
          <a:xfrm>
            <a:off x="1000125" y="3009193"/>
            <a:ext cx="321468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457B9D"/>
                </a:solidFill>
                <a:latin typeface="Montserrat" pitchFamily="34" charset="0"/>
                <a:ea typeface="Montserrat" pitchFamily="34" charset="-122"/>
                <a:cs typeface="Montserrat" pitchFamily="34" charset="-120"/>
              </a:rPr>
              <a:t>Contextual Consistency</a:t>
            </a:r>
            <a:endParaRPr lang="en-US" sz="1193" dirty="0"/>
          </a:p>
        </p:txBody>
      </p:sp>
      <p:sp>
        <p:nvSpPr>
          <p:cNvPr id="10" name="Text 6"/>
          <p:cNvSpPr/>
          <p:nvPr/>
        </p:nvSpPr>
        <p:spPr>
          <a:xfrm>
            <a:off x="1000125" y="3289585"/>
            <a:ext cx="3214688"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All prompts are anchored within the fitness brand business context for maximum relevance.</a:t>
            </a:r>
            <a:endParaRPr lang="en-US" sz="942" dirty="0"/>
          </a:p>
        </p:txBody>
      </p:sp>
      <p:sp>
        <p:nvSpPr>
          <p:cNvPr id="11" name="Text 7"/>
          <p:cNvSpPr/>
          <p:nvPr/>
        </p:nvSpPr>
        <p:spPr>
          <a:xfrm>
            <a:off x="4643438" y="3009193"/>
            <a:ext cx="321468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457B9D"/>
                </a:solidFill>
                <a:latin typeface="Montserrat" pitchFamily="34" charset="0"/>
                <a:ea typeface="Montserrat" pitchFamily="34" charset="-122"/>
                <a:cs typeface="Montserrat" pitchFamily="34" charset="-120"/>
              </a:rPr>
              <a:t>Professional Results</a:t>
            </a:r>
            <a:endParaRPr lang="en-US" sz="1193" dirty="0"/>
          </a:p>
        </p:txBody>
      </p:sp>
      <p:sp>
        <p:nvSpPr>
          <p:cNvPr id="12" name="Text 8"/>
          <p:cNvSpPr/>
          <p:nvPr/>
        </p:nvSpPr>
        <p:spPr>
          <a:xfrm>
            <a:off x="4643438" y="3289585"/>
            <a:ext cx="3214688"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More structured, professional, and ready-to-use outputs from AI models, reducing editing time.</a:t>
            </a:r>
            <a:endParaRPr lang="en-US" sz="942" dirty="0"/>
          </a:p>
        </p:txBody>
      </p:sp>
      <p:sp>
        <p:nvSpPr>
          <p:cNvPr id="13" name="Shape 9"/>
          <p:cNvSpPr/>
          <p:nvPr/>
        </p:nvSpPr>
        <p:spPr>
          <a:xfrm>
            <a:off x="1000125" y="4201083"/>
            <a:ext cx="4050506" cy="516136"/>
          </a:xfrm>
          <a:prstGeom prst="rect">
            <a:avLst/>
          </a:prstGeom>
          <a:solidFill>
            <a:srgbClr val="FFFFFF"/>
          </a:solidFill>
          <a:ln w="27432">
            <a:solidFill>
              <a:srgbClr val="0D1B2A"/>
            </a:solidFill>
            <a:prstDash val="solid"/>
          </a:ln>
        </p:spPr>
      </p:sp>
      <p:sp>
        <p:nvSpPr>
          <p:cNvPr id="14" name="Text 10"/>
          <p:cNvSpPr/>
          <p:nvPr/>
        </p:nvSpPr>
        <p:spPr>
          <a:xfrm>
            <a:off x="1214438" y="4343958"/>
            <a:ext cx="356473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Better prompts lead to better results. It's that simple.</a:t>
            </a:r>
            <a:endParaRPr lang="en-US" sz="98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7286625"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SOCIAL MEDIA &amp; CONTENT MARKETING EXCELLENCE</a:t>
            </a:r>
            <a:endParaRPr lang="en-US" sz="2436" dirty="0"/>
          </a:p>
        </p:txBody>
      </p:sp>
      <p:pic>
        <p:nvPicPr>
          <p:cNvPr id="5" name="Image 1" descr="preencoded.png">    </p:cNvPr>
          <p:cNvPicPr>
            <a:picLocks noChangeAspect="1"/>
          </p:cNvPicPr>
          <p:nvPr/>
        </p:nvPicPr>
        <p:blipFill>
          <a:blip r:embed="rId2"/>
          <a:stretch>
            <a:fillRect/>
          </a:stretch>
        </p:blipFill>
        <p:spPr>
          <a:xfrm>
            <a:off x="571500" y="1495499"/>
            <a:ext cx="250031" cy="285750"/>
          </a:xfrm>
          <a:prstGeom prst="rect">
            <a:avLst/>
          </a:prstGeom>
        </p:spPr>
      </p:pic>
      <p:sp>
        <p:nvSpPr>
          <p:cNvPr id="6" name="Text 1"/>
          <p:cNvSpPr/>
          <p:nvPr/>
        </p:nvSpPr>
        <p:spPr>
          <a:xfrm>
            <a:off x="571500" y="1922338"/>
            <a:ext cx="350043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Social Media Strategy</a:t>
            </a:r>
            <a:endParaRPr lang="en-US" sz="1193" dirty="0"/>
          </a:p>
        </p:txBody>
      </p:sp>
      <p:sp>
        <p:nvSpPr>
          <p:cNvPr id="7" name="Text 2"/>
          <p:cNvSpPr/>
          <p:nvPr/>
        </p:nvSpPr>
        <p:spPr>
          <a:xfrm>
            <a:off x="571500" y="2202731"/>
            <a:ext cx="3500438"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Role-based prompts for Instagram posts including captions, hashtags, and CTAs tailored for fitness enthusiasts.</a:t>
            </a:r>
            <a:endParaRPr lang="en-US" sz="942" dirty="0"/>
          </a:p>
        </p:txBody>
      </p:sp>
      <p:pic>
        <p:nvPicPr>
          <p:cNvPr id="8" name="Image 2" descr="preencoded.png">    </p:cNvPr>
          <p:cNvPicPr>
            <a:picLocks noChangeAspect="1"/>
          </p:cNvPicPr>
          <p:nvPr/>
        </p:nvPicPr>
        <p:blipFill>
          <a:blip r:embed="rId3"/>
          <a:stretch>
            <a:fillRect/>
          </a:stretch>
        </p:blipFill>
        <p:spPr>
          <a:xfrm>
            <a:off x="4357688" y="1495499"/>
            <a:ext cx="285750" cy="285750"/>
          </a:xfrm>
          <a:prstGeom prst="rect">
            <a:avLst/>
          </a:prstGeom>
        </p:spPr>
      </p:pic>
      <p:sp>
        <p:nvSpPr>
          <p:cNvPr id="9" name="Text 3"/>
          <p:cNvSpPr/>
          <p:nvPr/>
        </p:nvSpPr>
        <p:spPr>
          <a:xfrm>
            <a:off x="4357688" y="1922338"/>
            <a:ext cx="350043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Blog Development</a:t>
            </a:r>
            <a:endParaRPr lang="en-US" sz="1193" dirty="0"/>
          </a:p>
        </p:txBody>
      </p:sp>
      <p:sp>
        <p:nvSpPr>
          <p:cNvPr id="10" name="Text 4"/>
          <p:cNvSpPr/>
          <p:nvPr/>
        </p:nvSpPr>
        <p:spPr>
          <a:xfrm>
            <a:off x="4357688" y="2202731"/>
            <a:ext cx="3500438"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Transitioning from simple requests to structured 400-500 word articles with optimized headers and tips.</a:t>
            </a:r>
            <a:endParaRPr lang="en-US" sz="942" dirty="0"/>
          </a:p>
        </p:txBody>
      </p:sp>
      <p:pic>
        <p:nvPicPr>
          <p:cNvPr id="11" name="Image 3" descr="preencoded.png">    </p:cNvPr>
          <p:cNvPicPr>
            <a:picLocks noChangeAspect="1"/>
          </p:cNvPicPr>
          <p:nvPr/>
        </p:nvPicPr>
        <p:blipFill>
          <a:blip r:embed="rId4"/>
          <a:stretch>
            <a:fillRect/>
          </a:stretch>
        </p:blipFill>
        <p:spPr>
          <a:xfrm>
            <a:off x="571500" y="3246723"/>
            <a:ext cx="214313" cy="285750"/>
          </a:xfrm>
          <a:prstGeom prst="rect">
            <a:avLst/>
          </a:prstGeom>
        </p:spPr>
      </p:pic>
      <p:sp>
        <p:nvSpPr>
          <p:cNvPr id="12" name="Text 5"/>
          <p:cNvSpPr/>
          <p:nvPr/>
        </p:nvSpPr>
        <p:spPr>
          <a:xfrm>
            <a:off x="571500" y="3673562"/>
            <a:ext cx="350043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Rapid Generation</a:t>
            </a:r>
            <a:endParaRPr lang="en-US" sz="1193" dirty="0"/>
          </a:p>
        </p:txBody>
      </p:sp>
      <p:sp>
        <p:nvSpPr>
          <p:cNvPr id="13" name="Text 6"/>
          <p:cNvSpPr/>
          <p:nvPr/>
        </p:nvSpPr>
        <p:spPr>
          <a:xfrm>
            <a:off x="571500" y="3953954"/>
            <a:ext cx="3500438"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Platform-specific content that resonates with fitness enthusiasts, generated in seconds rather than hours.</a:t>
            </a:r>
            <a:endParaRPr lang="en-US" sz="942" dirty="0"/>
          </a:p>
        </p:txBody>
      </p:sp>
      <p:pic>
        <p:nvPicPr>
          <p:cNvPr id="14" name="Image 4" descr="preencoded.png">    </p:cNvPr>
          <p:cNvPicPr>
            <a:picLocks noChangeAspect="1"/>
          </p:cNvPicPr>
          <p:nvPr/>
        </p:nvPicPr>
        <p:blipFill>
          <a:blip r:embed="rId5"/>
          <a:stretch>
            <a:fillRect/>
          </a:stretch>
        </p:blipFill>
        <p:spPr>
          <a:xfrm>
            <a:off x="4357688" y="3246723"/>
            <a:ext cx="285750" cy="285750"/>
          </a:xfrm>
          <a:prstGeom prst="rect">
            <a:avLst/>
          </a:prstGeom>
        </p:spPr>
      </p:pic>
      <p:sp>
        <p:nvSpPr>
          <p:cNvPr id="15" name="Text 7"/>
          <p:cNvSpPr/>
          <p:nvPr/>
        </p:nvSpPr>
        <p:spPr>
          <a:xfrm>
            <a:off x="4357688" y="3673562"/>
            <a:ext cx="350043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Efficiency Gains</a:t>
            </a:r>
            <a:endParaRPr lang="en-US" sz="1193" dirty="0"/>
          </a:p>
        </p:txBody>
      </p:sp>
      <p:sp>
        <p:nvSpPr>
          <p:cNvPr id="16" name="Text 8"/>
          <p:cNvSpPr/>
          <p:nvPr/>
        </p:nvSpPr>
        <p:spPr>
          <a:xfrm>
            <a:off x="4357688" y="3953954"/>
            <a:ext cx="3500438"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Reducing content drafting time by up to 70% through optimized prompting and structured workflows.</a:t>
            </a:r>
            <a:endParaRPr lang="en-US" sz="942" dirty="0"/>
          </a:p>
        </p:txBody>
      </p:sp>
      <p:sp>
        <p:nvSpPr>
          <p:cNvPr id="17" name="Shape 9"/>
          <p:cNvSpPr/>
          <p:nvPr/>
        </p:nvSpPr>
        <p:spPr>
          <a:xfrm>
            <a:off x="571500" y="4536839"/>
            <a:ext cx="4450556" cy="401836"/>
          </a:xfrm>
          <a:prstGeom prst="rect">
            <a:avLst/>
          </a:prstGeom>
          <a:solidFill>
            <a:srgbClr val="FFFFFF"/>
          </a:solidFill>
          <a:ln w="27432">
            <a:solidFill>
              <a:srgbClr val="0D1B2A"/>
            </a:solidFill>
            <a:prstDash val="solid"/>
          </a:ln>
        </p:spPr>
      </p:sp>
      <p:sp>
        <p:nvSpPr>
          <p:cNvPr id="18" name="Text 10"/>
          <p:cNvSpPr/>
          <p:nvPr/>
        </p:nvSpPr>
        <p:spPr>
          <a:xfrm>
            <a:off x="714375" y="4622564"/>
            <a:ext cx="4107656"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Content is king, but speed is the kingdom. AI gives you both.</a:t>
            </a:r>
            <a:endParaRPr lang="en-US" sz="98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7286625"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PRECISION IN PAID ADS &amp; EMAIL COMMUNICATION</a:t>
            </a:r>
            <a:endParaRPr lang="en-US" sz="2436" dirty="0"/>
          </a:p>
        </p:txBody>
      </p:sp>
      <p:sp>
        <p:nvSpPr>
          <p:cNvPr id="5" name="Text 1"/>
          <p:cNvSpPr/>
          <p:nvPr/>
        </p:nvSpPr>
        <p:spPr>
          <a:xfrm>
            <a:off x="571500" y="1468710"/>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Ad Copywriting</a:t>
            </a:r>
            <a:endParaRPr lang="en-US" sz="1193" dirty="0"/>
          </a:p>
        </p:txBody>
      </p:sp>
      <p:sp>
        <p:nvSpPr>
          <p:cNvPr id="6" name="Text 2"/>
          <p:cNvSpPr/>
          <p:nvPr/>
        </p:nvSpPr>
        <p:spPr>
          <a:xfrm>
            <a:off x="571500" y="1749103"/>
            <a:ext cx="34290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Creating high-conversion ads highlighting specific product benefits and clear CTAs for fitness products.</a:t>
            </a:r>
            <a:endParaRPr lang="en-US" sz="942" dirty="0"/>
          </a:p>
        </p:txBody>
      </p:sp>
      <p:sp>
        <p:nvSpPr>
          <p:cNvPr id="7" name="Text 3"/>
          <p:cNvSpPr/>
          <p:nvPr/>
        </p:nvSpPr>
        <p:spPr>
          <a:xfrm>
            <a:off x="4429125" y="1468710"/>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Email Marketing</a:t>
            </a:r>
            <a:endParaRPr lang="en-US" sz="1193" dirty="0"/>
          </a:p>
        </p:txBody>
      </p:sp>
      <p:sp>
        <p:nvSpPr>
          <p:cNvPr id="8" name="Text 4"/>
          <p:cNvSpPr/>
          <p:nvPr/>
        </p:nvSpPr>
        <p:spPr>
          <a:xfrm>
            <a:off x="4429125" y="1749103"/>
            <a:ext cx="34290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Professional subject lines and persuasive body copy for fitness product promotions and customer engagement.</a:t>
            </a:r>
            <a:endParaRPr lang="en-US" sz="942" dirty="0"/>
          </a:p>
        </p:txBody>
      </p:sp>
      <p:sp>
        <p:nvSpPr>
          <p:cNvPr id="9" name="Text 5"/>
          <p:cNvSpPr/>
          <p:nvPr/>
        </p:nvSpPr>
        <p:spPr>
          <a:xfrm>
            <a:off x="571500" y="2803475"/>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Brand Consistency</a:t>
            </a:r>
            <a:endParaRPr lang="en-US" sz="1193" dirty="0"/>
          </a:p>
        </p:txBody>
      </p:sp>
      <p:sp>
        <p:nvSpPr>
          <p:cNvPr id="10" name="Text 6"/>
          <p:cNvSpPr/>
          <p:nvPr/>
        </p:nvSpPr>
        <p:spPr>
          <a:xfrm>
            <a:off x="571500" y="3083868"/>
            <a:ext cx="342900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Ensuring brand voice remains uniform across all direct-to-consumer channels through standardized prompting.</a:t>
            </a:r>
            <a:endParaRPr lang="en-US" sz="942" dirty="0"/>
          </a:p>
        </p:txBody>
      </p:sp>
      <p:sp>
        <p:nvSpPr>
          <p:cNvPr id="11" name="Text 7"/>
          <p:cNvSpPr/>
          <p:nvPr/>
        </p:nvSpPr>
        <p:spPr>
          <a:xfrm>
            <a:off x="4429125" y="2803475"/>
            <a:ext cx="342900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Performance Optimization</a:t>
            </a:r>
            <a:endParaRPr lang="en-US" sz="1193" dirty="0"/>
          </a:p>
        </p:txBody>
      </p:sp>
      <p:sp>
        <p:nvSpPr>
          <p:cNvPr id="12" name="Text 8"/>
          <p:cNvSpPr/>
          <p:nvPr/>
        </p:nvSpPr>
        <p:spPr>
          <a:xfrm>
            <a:off x="4429125" y="3083868"/>
            <a:ext cx="34290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Multiple ad variations (V1 to V3) to support A/B testing and performance tracking for better ROI.</a:t>
            </a:r>
            <a:endParaRPr lang="en-US" sz="942" dirty="0"/>
          </a:p>
        </p:txBody>
      </p:sp>
      <p:sp>
        <p:nvSpPr>
          <p:cNvPr id="13" name="Shape 9"/>
          <p:cNvSpPr/>
          <p:nvPr/>
        </p:nvSpPr>
        <p:spPr>
          <a:xfrm>
            <a:off x="571500" y="4201083"/>
            <a:ext cx="5563195" cy="516136"/>
          </a:xfrm>
          <a:prstGeom prst="rect">
            <a:avLst/>
          </a:prstGeom>
          <a:solidFill>
            <a:srgbClr val="FFFFFF"/>
          </a:solidFill>
          <a:ln w="27432">
            <a:solidFill>
              <a:srgbClr val="0D1B2A"/>
            </a:solidFill>
            <a:prstDash val="solid"/>
          </a:ln>
        </p:spPr>
      </p:sp>
      <p:sp>
        <p:nvSpPr>
          <p:cNvPr id="14" name="Text 10"/>
          <p:cNvSpPr/>
          <p:nvPr/>
        </p:nvSpPr>
        <p:spPr>
          <a:xfrm>
            <a:off x="785813" y="4343958"/>
            <a:ext cx="507742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Precision messaging at scale. AI ensures every word works for your brand.</a:t>
            </a:r>
            <a:endParaRPr lang="en-US" sz="98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DATA-DRIVEN STRATEGY &amp; MARKET RESEARCH</a:t>
            </a:r>
            <a:endParaRPr lang="en-US" sz="2436" dirty="0"/>
          </a:p>
        </p:txBody>
      </p:sp>
      <p:pic>
        <p:nvPicPr>
          <p:cNvPr id="5" name="Image 1" descr="preencoded.png">    </p:cNvPr>
          <p:cNvPicPr>
            <a:picLocks noChangeAspect="1"/>
          </p:cNvPicPr>
          <p:nvPr/>
        </p:nvPicPr>
        <p:blipFill>
          <a:blip r:embed="rId2"/>
          <a:stretch>
            <a:fillRect/>
          </a:stretch>
        </p:blipFill>
        <p:spPr>
          <a:xfrm>
            <a:off x="571500" y="1781249"/>
            <a:ext cx="357188" cy="285750"/>
          </a:xfrm>
          <a:prstGeom prst="rect">
            <a:avLst/>
          </a:prstGeom>
        </p:spPr>
      </p:pic>
      <p:sp>
        <p:nvSpPr>
          <p:cNvPr id="6" name="Text 1"/>
          <p:cNvSpPr/>
          <p:nvPr/>
        </p:nvSpPr>
        <p:spPr>
          <a:xfrm>
            <a:off x="571500" y="2243807"/>
            <a:ext cx="1693069" cy="266105"/>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Customer Personas</a:t>
            </a:r>
            <a:endParaRPr lang="en-US" sz="1193" dirty="0"/>
          </a:p>
        </p:txBody>
      </p:sp>
      <p:sp>
        <p:nvSpPr>
          <p:cNvPr id="7" name="Text 2"/>
          <p:cNvSpPr/>
          <p:nvPr/>
        </p:nvSpPr>
        <p:spPr>
          <a:xfrm>
            <a:off x="571500" y="2617068"/>
            <a:ext cx="2476481"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AI-generated profiles detailing age, fitness goals, and lifestyle habits for hyper-targeted campaign messaging.</a:t>
            </a:r>
            <a:endParaRPr lang="en-US" sz="942" dirty="0"/>
          </a:p>
        </p:txBody>
      </p:sp>
      <p:pic>
        <p:nvPicPr>
          <p:cNvPr id="8" name="Image 2" descr="preencoded.png">    </p:cNvPr>
          <p:cNvPicPr>
            <a:picLocks noChangeAspect="1"/>
          </p:cNvPicPr>
          <p:nvPr/>
        </p:nvPicPr>
        <p:blipFill>
          <a:blip r:embed="rId3"/>
          <a:stretch>
            <a:fillRect/>
          </a:stretch>
        </p:blipFill>
        <p:spPr>
          <a:xfrm>
            <a:off x="3333731" y="1781249"/>
            <a:ext cx="285750" cy="285750"/>
          </a:xfrm>
          <a:prstGeom prst="rect">
            <a:avLst/>
          </a:prstGeom>
        </p:spPr>
      </p:pic>
      <p:sp>
        <p:nvSpPr>
          <p:cNvPr id="9" name="Text 3"/>
          <p:cNvSpPr/>
          <p:nvPr/>
        </p:nvSpPr>
        <p:spPr>
          <a:xfrm>
            <a:off x="3333731" y="2243807"/>
            <a:ext cx="1746647" cy="266105"/>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Competitor Analysis</a:t>
            </a:r>
            <a:endParaRPr lang="en-US" sz="1193" dirty="0"/>
          </a:p>
        </p:txBody>
      </p:sp>
      <p:sp>
        <p:nvSpPr>
          <p:cNvPr id="10" name="Text 4"/>
          <p:cNvSpPr/>
          <p:nvPr/>
        </p:nvSpPr>
        <p:spPr>
          <a:xfrm>
            <a:off x="3333731" y="2617068"/>
            <a:ext cx="2476509" cy="822871"/>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Systematic evaluation of market rivals to identify strengths, weaknesses, and untapped opportunities in the fitness sector.</a:t>
            </a:r>
            <a:endParaRPr lang="en-US" sz="942" dirty="0"/>
          </a:p>
        </p:txBody>
      </p:sp>
      <p:pic>
        <p:nvPicPr>
          <p:cNvPr id="11" name="Image 3" descr="preencoded.png">    </p:cNvPr>
          <p:cNvPicPr>
            <a:picLocks noChangeAspect="1"/>
          </p:cNvPicPr>
          <p:nvPr/>
        </p:nvPicPr>
        <p:blipFill>
          <a:blip r:embed="rId4"/>
          <a:stretch>
            <a:fillRect/>
          </a:stretch>
        </p:blipFill>
        <p:spPr>
          <a:xfrm>
            <a:off x="6095991" y="1781249"/>
            <a:ext cx="285750" cy="285750"/>
          </a:xfrm>
          <a:prstGeom prst="rect">
            <a:avLst/>
          </a:prstGeom>
        </p:spPr>
      </p:pic>
      <p:sp>
        <p:nvSpPr>
          <p:cNvPr id="12" name="Text 5"/>
          <p:cNvSpPr/>
          <p:nvPr/>
        </p:nvSpPr>
        <p:spPr>
          <a:xfrm>
            <a:off x="6095991" y="2243807"/>
            <a:ext cx="1557338" cy="266105"/>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SEO Optimization</a:t>
            </a:r>
            <a:endParaRPr lang="en-US" sz="1193" dirty="0"/>
          </a:p>
        </p:txBody>
      </p:sp>
      <p:sp>
        <p:nvSpPr>
          <p:cNvPr id="13" name="Text 6"/>
          <p:cNvSpPr/>
          <p:nvPr/>
        </p:nvSpPr>
        <p:spPr>
          <a:xfrm>
            <a:off x="6095991" y="2617068"/>
            <a:ext cx="2476481"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Expert-level keyword generation and search intent analysis to improve organic visibility and website traffic.</a:t>
            </a:r>
            <a:endParaRPr lang="en-US" sz="942" dirty="0"/>
          </a:p>
        </p:txBody>
      </p:sp>
      <p:sp>
        <p:nvSpPr>
          <p:cNvPr id="14" name="Shape 7"/>
          <p:cNvSpPr/>
          <p:nvPr/>
        </p:nvSpPr>
        <p:spPr>
          <a:xfrm>
            <a:off x="571500" y="4011439"/>
            <a:ext cx="6452592" cy="516136"/>
          </a:xfrm>
          <a:prstGeom prst="rect">
            <a:avLst/>
          </a:prstGeom>
          <a:solidFill>
            <a:srgbClr val="FFFFFF"/>
          </a:solidFill>
          <a:ln w="27432">
            <a:solidFill>
              <a:srgbClr val="0D1B2A"/>
            </a:solidFill>
            <a:prstDash val="solid"/>
          </a:ln>
        </p:spPr>
      </p:sp>
      <p:sp>
        <p:nvSpPr>
          <p:cNvPr id="15" name="Text 8"/>
          <p:cNvSpPr/>
          <p:nvPr/>
        </p:nvSpPr>
        <p:spPr>
          <a:xfrm>
            <a:off x="785813" y="4154314"/>
            <a:ext cx="5966817"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AI transforms raw market data into actionable business intelligence for a strategic edge.</a:t>
            </a:r>
            <a:endParaRPr lang="en-US" sz="98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7429500"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CAMPAIGN PLANNING &amp; PERFORMANCE ANALYTICS</a:t>
            </a:r>
            <a:endParaRPr lang="en-US" sz="2436" dirty="0"/>
          </a:p>
        </p:txBody>
      </p:sp>
      <p:sp>
        <p:nvSpPr>
          <p:cNvPr id="5" name="Text 1"/>
          <p:cNvSpPr/>
          <p:nvPr/>
        </p:nvSpPr>
        <p:spPr>
          <a:xfrm>
            <a:off x="571500" y="1540148"/>
            <a:ext cx="3429000" cy="242888"/>
          </a:xfrm>
          <a:prstGeom prst="rect">
            <a:avLst/>
          </a:prstGeom>
          <a:noFill/>
          <a:ln/>
        </p:spPr>
        <p:txBody>
          <a:bodyPr wrap="none" lIns="127508" tIns="0" rIns="0" bIns="0" rtlCol="0" anchor="t">
            <a:spAutoFit/>
          </a:bodyPr>
          <a:lstStyle/>
          <a:p>
            <a:pPr algn="l" indent="0" marL="0">
              <a:lnSpc>
                <a:spcPts val="1900"/>
              </a:lnSpc>
              <a:buNone/>
            </a:pPr>
            <a:r>
              <a:rPr lang="en-US" sz="1397" b="1" dirty="0">
                <a:solidFill>
                  <a:srgbClr val="E63946"/>
                </a:solidFill>
                <a:latin typeface="Montserrat" pitchFamily="34" charset="0"/>
                <a:ea typeface="Montserrat" pitchFamily="34" charset="-122"/>
                <a:cs typeface="Montserrat" pitchFamily="34" charset="-120"/>
              </a:rPr>
              <a:t>Strategic Planning</a:t>
            </a:r>
            <a:endParaRPr lang="en-US" sz="1397" dirty="0"/>
          </a:p>
        </p:txBody>
      </p:sp>
      <p:sp>
        <p:nvSpPr>
          <p:cNvPr id="6" name="Text 2"/>
          <p:cNvSpPr/>
          <p:nvPr/>
        </p:nvSpPr>
        <p:spPr>
          <a:xfrm>
            <a:off x="571500" y="1925910"/>
            <a:ext cx="342900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Automated Content Calendars</a:t>
            </a:r>
            <a:endParaRPr lang="en-US" sz="987" dirty="0"/>
          </a:p>
        </p:txBody>
      </p:sp>
      <p:sp>
        <p:nvSpPr>
          <p:cNvPr id="7" name="Text 3"/>
          <p:cNvSpPr/>
          <p:nvPr/>
        </p:nvSpPr>
        <p:spPr>
          <a:xfrm>
            <a:off x="571500" y="2134865"/>
            <a:ext cx="342900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B263B"/>
                </a:solidFill>
                <a:latin typeface="Inter" pitchFamily="34" charset="0"/>
                <a:ea typeface="Inter" pitchFamily="34" charset="-122"/>
                <a:cs typeface="Inter" pitchFamily="34" charset="-120"/>
              </a:rPr>
              <a:t>Generating 7-day content plans with diverse post ideas and platform-specific strategies.</a:t>
            </a:r>
            <a:endParaRPr lang="en-US" sz="942" dirty="0"/>
          </a:p>
        </p:txBody>
      </p:sp>
      <p:sp>
        <p:nvSpPr>
          <p:cNvPr id="8" name="Text 4"/>
          <p:cNvSpPr/>
          <p:nvPr/>
        </p:nvSpPr>
        <p:spPr>
          <a:xfrm>
            <a:off x="571500" y="2699221"/>
            <a:ext cx="342900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Client Proposals</a:t>
            </a:r>
            <a:endParaRPr lang="en-US" sz="987" dirty="0"/>
          </a:p>
        </p:txBody>
      </p:sp>
      <p:sp>
        <p:nvSpPr>
          <p:cNvPr id="9" name="Text 5"/>
          <p:cNvSpPr/>
          <p:nvPr/>
        </p:nvSpPr>
        <p:spPr>
          <a:xfrm>
            <a:off x="571500" y="2908176"/>
            <a:ext cx="342900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B263B"/>
                </a:solidFill>
                <a:latin typeface="Inter" pitchFamily="34" charset="0"/>
                <a:ea typeface="Inter" pitchFamily="34" charset="-122"/>
                <a:cs typeface="Inter" pitchFamily="34" charset="-120"/>
              </a:rPr>
              <a:t>Professional proposal generation covering goals, strategy, and expected outcomes.</a:t>
            </a:r>
            <a:endParaRPr lang="en-US" sz="942" dirty="0"/>
          </a:p>
        </p:txBody>
      </p:sp>
      <p:sp>
        <p:nvSpPr>
          <p:cNvPr id="10" name="Text 6"/>
          <p:cNvSpPr/>
          <p:nvPr/>
        </p:nvSpPr>
        <p:spPr>
          <a:xfrm>
            <a:off x="4572000" y="1540148"/>
            <a:ext cx="3429000" cy="242888"/>
          </a:xfrm>
          <a:prstGeom prst="rect">
            <a:avLst/>
          </a:prstGeom>
          <a:noFill/>
          <a:ln/>
        </p:spPr>
        <p:txBody>
          <a:bodyPr wrap="none" lIns="127508" tIns="0" rIns="0" bIns="0" rtlCol="0" anchor="t">
            <a:spAutoFit/>
          </a:bodyPr>
          <a:lstStyle/>
          <a:p>
            <a:pPr algn="l" indent="0" marL="0">
              <a:lnSpc>
                <a:spcPts val="1900"/>
              </a:lnSpc>
              <a:buNone/>
            </a:pPr>
            <a:r>
              <a:rPr lang="en-US" sz="1397" b="1" dirty="0">
                <a:solidFill>
                  <a:srgbClr val="E63946"/>
                </a:solidFill>
                <a:latin typeface="Montserrat" pitchFamily="34" charset="0"/>
                <a:ea typeface="Montserrat" pitchFamily="34" charset="-122"/>
                <a:cs typeface="Montserrat" pitchFamily="34" charset="-120"/>
              </a:rPr>
              <a:t>Data Synthesis</a:t>
            </a:r>
            <a:endParaRPr lang="en-US" sz="1397" dirty="0"/>
          </a:p>
        </p:txBody>
      </p:sp>
      <p:sp>
        <p:nvSpPr>
          <p:cNvPr id="11" name="Text 7"/>
          <p:cNvSpPr/>
          <p:nvPr/>
        </p:nvSpPr>
        <p:spPr>
          <a:xfrm>
            <a:off x="4572000" y="1925910"/>
            <a:ext cx="342900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Performance Summaries</a:t>
            </a:r>
            <a:endParaRPr lang="en-US" sz="987" dirty="0"/>
          </a:p>
        </p:txBody>
      </p:sp>
      <p:sp>
        <p:nvSpPr>
          <p:cNvPr id="12" name="Text 8"/>
          <p:cNvSpPr/>
          <p:nvPr/>
        </p:nvSpPr>
        <p:spPr>
          <a:xfrm>
            <a:off x="4572000" y="2134865"/>
            <a:ext cx="342900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B263B"/>
                </a:solidFill>
                <a:latin typeface="Inter" pitchFamily="34" charset="0"/>
                <a:ea typeface="Inter" pitchFamily="34" charset="-122"/>
                <a:cs typeface="Inter" pitchFamily="34" charset="-120"/>
              </a:rPr>
              <a:t>AI-assisted insights that transform raw campaign data into actionable improvement suggestions.</a:t>
            </a:r>
            <a:endParaRPr lang="en-US" sz="942" dirty="0"/>
          </a:p>
        </p:txBody>
      </p:sp>
      <p:sp>
        <p:nvSpPr>
          <p:cNvPr id="13" name="Text 9"/>
          <p:cNvSpPr/>
          <p:nvPr/>
        </p:nvSpPr>
        <p:spPr>
          <a:xfrm>
            <a:off x="4572000" y="2699221"/>
            <a:ext cx="342900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Operational Flow</a:t>
            </a:r>
            <a:endParaRPr lang="en-US" sz="987" dirty="0"/>
          </a:p>
        </p:txBody>
      </p:sp>
      <p:sp>
        <p:nvSpPr>
          <p:cNvPr id="14" name="Text 10"/>
          <p:cNvSpPr/>
          <p:nvPr/>
        </p:nvSpPr>
        <p:spPr>
          <a:xfrm>
            <a:off x="4572000" y="2908176"/>
            <a:ext cx="342900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1B263B"/>
                </a:solidFill>
                <a:latin typeface="Inter" pitchFamily="34" charset="0"/>
                <a:ea typeface="Inter" pitchFamily="34" charset="-122"/>
                <a:cs typeface="Inter" pitchFamily="34" charset="-120"/>
              </a:rPr>
              <a:t>Seamless transition from planning to execution and reporting within a unified AI framework.</a:t>
            </a:r>
            <a:endParaRPr lang="en-US" sz="942" dirty="0"/>
          </a:p>
        </p:txBody>
      </p:sp>
      <p:sp>
        <p:nvSpPr>
          <p:cNvPr id="15" name="Shape 11"/>
          <p:cNvSpPr/>
          <p:nvPr/>
        </p:nvSpPr>
        <p:spPr>
          <a:xfrm>
            <a:off x="571500" y="3829720"/>
            <a:ext cx="7002661" cy="603647"/>
          </a:xfrm>
          <a:prstGeom prst="rect">
            <a:avLst/>
          </a:prstGeom>
          <a:solidFill>
            <a:srgbClr val="FFFFFF"/>
          </a:solidFill>
          <a:ln w="27432">
            <a:solidFill>
              <a:srgbClr val="0D1B2A"/>
            </a:solidFill>
            <a:prstDash val="solid"/>
          </a:ln>
        </p:spPr>
      </p:sp>
      <p:sp>
        <p:nvSpPr>
          <p:cNvPr id="16" name="Text 12"/>
          <p:cNvSpPr/>
          <p:nvPr/>
        </p:nvSpPr>
        <p:spPr>
          <a:xfrm>
            <a:off x="857250" y="4008313"/>
            <a:ext cx="637401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D1B2A"/>
                </a:solidFill>
                <a:latin typeface="Inter" pitchFamily="34" charset="0"/>
                <a:ea typeface="Inter" pitchFamily="34" charset="-122"/>
                <a:cs typeface="Inter" pitchFamily="34" charset="-120"/>
              </a:rPr>
              <a:t>From raw data to strategic intelligence: AI closes the loop on marketing performance.</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285875" y="428625"/>
            <a:ext cx="5857875" cy="754335"/>
          </a:xfrm>
          <a:prstGeom prst="rect">
            <a:avLst/>
          </a:prstGeom>
          <a:noFill/>
          <a:ln/>
        </p:spPr>
        <p:txBody>
          <a:bodyPr wrap="squar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RISK MANAGEMENT &amp; RESPONSIBLE AI USE</a:t>
            </a:r>
            <a:endParaRPr lang="en-US" sz="2436" dirty="0"/>
          </a:p>
        </p:txBody>
      </p:sp>
      <p:sp>
        <p:nvSpPr>
          <p:cNvPr id="5" name="Text 1"/>
          <p:cNvSpPr/>
          <p:nvPr/>
        </p:nvSpPr>
        <p:spPr>
          <a:xfrm>
            <a:off x="1285875" y="1468710"/>
            <a:ext cx="2750344"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Identified Risks</a:t>
            </a:r>
            <a:endParaRPr lang="en-US" sz="1193" dirty="0"/>
          </a:p>
        </p:txBody>
      </p:sp>
      <p:sp>
        <p:nvSpPr>
          <p:cNvPr id="6" name="Text 2"/>
          <p:cNvSpPr/>
          <p:nvPr/>
        </p:nvSpPr>
        <p:spPr>
          <a:xfrm>
            <a:off x="1285875" y="1749103"/>
            <a:ext cx="2750344"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Potential for generic responses or factual inaccuracies in AI outputs that could impact brand credibility.</a:t>
            </a:r>
            <a:endParaRPr lang="en-US" sz="942" dirty="0"/>
          </a:p>
        </p:txBody>
      </p:sp>
      <p:sp>
        <p:nvSpPr>
          <p:cNvPr id="7" name="Text 3"/>
          <p:cNvSpPr/>
          <p:nvPr/>
        </p:nvSpPr>
        <p:spPr>
          <a:xfrm>
            <a:off x="4393406" y="1468710"/>
            <a:ext cx="2750344"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Mitigation Strategy</a:t>
            </a:r>
            <a:endParaRPr lang="en-US" sz="1193" dirty="0"/>
          </a:p>
        </p:txBody>
      </p:sp>
      <p:sp>
        <p:nvSpPr>
          <p:cNvPr id="8" name="Text 4"/>
          <p:cNvSpPr/>
          <p:nvPr/>
        </p:nvSpPr>
        <p:spPr>
          <a:xfrm>
            <a:off x="4393406" y="1749103"/>
            <a:ext cx="2750344"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Mandatory human review and editing for all AI-generated content to ensure brand voice and accuracy.</a:t>
            </a:r>
            <a:endParaRPr lang="en-US" sz="942" dirty="0"/>
          </a:p>
        </p:txBody>
      </p:sp>
      <p:sp>
        <p:nvSpPr>
          <p:cNvPr id="9" name="Text 5"/>
          <p:cNvSpPr/>
          <p:nvPr/>
        </p:nvSpPr>
        <p:spPr>
          <a:xfrm>
            <a:off x="1285875" y="2902037"/>
            <a:ext cx="2750344"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Quality Control</a:t>
            </a:r>
            <a:endParaRPr lang="en-US" sz="1193" dirty="0"/>
          </a:p>
        </p:txBody>
      </p:sp>
      <p:sp>
        <p:nvSpPr>
          <p:cNvPr id="10" name="Text 6"/>
          <p:cNvSpPr/>
          <p:nvPr/>
        </p:nvSpPr>
        <p:spPr>
          <a:xfrm>
            <a:off x="1285875" y="3182429"/>
            <a:ext cx="2750344"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Using the prompt library as a foundation, not a final replacement for human marketing expertise.</a:t>
            </a:r>
            <a:endParaRPr lang="en-US" sz="942" dirty="0"/>
          </a:p>
        </p:txBody>
      </p:sp>
      <p:sp>
        <p:nvSpPr>
          <p:cNvPr id="11" name="Text 7"/>
          <p:cNvSpPr/>
          <p:nvPr/>
        </p:nvSpPr>
        <p:spPr>
          <a:xfrm>
            <a:off x="4393406" y="2902037"/>
            <a:ext cx="2750344"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3946"/>
                </a:solidFill>
                <a:latin typeface="Montserrat" pitchFamily="34" charset="0"/>
                <a:ea typeface="Montserrat" pitchFamily="34" charset="-122"/>
                <a:cs typeface="Montserrat" pitchFamily="34" charset="-120"/>
              </a:rPr>
              <a:t>Brand Authenticity</a:t>
            </a:r>
            <a:endParaRPr lang="en-US" sz="1193" dirty="0"/>
          </a:p>
        </p:txBody>
      </p:sp>
      <p:sp>
        <p:nvSpPr>
          <p:cNvPr id="12" name="Text 8"/>
          <p:cNvSpPr/>
          <p:nvPr/>
        </p:nvSpPr>
        <p:spPr>
          <a:xfrm>
            <a:off x="4393406" y="3182429"/>
            <a:ext cx="2750344"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Ensuring brand authenticity through responsible and supervised AI integration across all channels.</a:t>
            </a:r>
            <a:endParaRPr lang="en-US" sz="942" dirty="0"/>
          </a:p>
        </p:txBody>
      </p:sp>
      <p:sp>
        <p:nvSpPr>
          <p:cNvPr id="13" name="Shape 9"/>
          <p:cNvSpPr/>
          <p:nvPr/>
        </p:nvSpPr>
        <p:spPr>
          <a:xfrm>
            <a:off x="1285875" y="4263926"/>
            <a:ext cx="5263158" cy="516136"/>
          </a:xfrm>
          <a:prstGeom prst="rect">
            <a:avLst/>
          </a:prstGeom>
          <a:solidFill>
            <a:srgbClr val="FFFFFF"/>
          </a:solidFill>
          <a:ln w="27432">
            <a:solidFill>
              <a:srgbClr val="0D1B2A"/>
            </a:solidFill>
            <a:prstDash val="solid"/>
          </a:ln>
        </p:spPr>
      </p:sp>
      <p:sp>
        <p:nvSpPr>
          <p:cNvPr id="14" name="Text 10"/>
          <p:cNvSpPr/>
          <p:nvPr/>
        </p:nvSpPr>
        <p:spPr>
          <a:xfrm>
            <a:off x="1500188" y="4406801"/>
            <a:ext cx="477738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AI is the engine, but humans are the drivers. Quality is non-negotiable.</a:t>
            </a:r>
            <a:endParaRPr lang="en-US" sz="98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377168"/>
          </a:xfrm>
          <a:prstGeom prst="rect">
            <a:avLst/>
          </a:prstGeom>
          <a:noFill/>
          <a:ln/>
        </p:spPr>
        <p:txBody>
          <a:bodyPr wrap="none" lIns="0" tIns="0" rIns="0" bIns="0" rtlCol="0" anchor="t">
            <a:spAutoFit/>
          </a:bodyPr>
          <a:lstStyle/>
          <a:p>
            <a:pPr algn="l" indent="0" marL="0">
              <a:lnSpc>
                <a:spcPts val="3000"/>
              </a:lnSpc>
              <a:buNone/>
            </a:pPr>
            <a:r>
              <a:rPr lang="en-US" sz="2436" b="1" i="1" dirty="0">
                <a:solidFill>
                  <a:srgbClr val="0D1B2A"/>
                </a:solidFill>
                <a:latin typeface="Montserrat" pitchFamily="34" charset="0"/>
                <a:ea typeface="Montserrat" pitchFamily="34" charset="-122"/>
                <a:cs typeface="Montserrat" pitchFamily="34" charset="-120"/>
              </a:rPr>
              <a:t>EXPECTED IMPACT &amp; ROI</a:t>
            </a:r>
            <a:endParaRPr lang="en-US" sz="2436" dirty="0"/>
          </a:p>
        </p:txBody>
      </p:sp>
      <p:pic>
        <p:nvPicPr>
          <p:cNvPr id="5" name="Image 1" descr="preencoded.png">    </p:cNvPr>
          <p:cNvPicPr>
            <a:picLocks noChangeAspect="1"/>
          </p:cNvPicPr>
          <p:nvPr/>
        </p:nvPicPr>
        <p:blipFill>
          <a:blip r:embed="rId2"/>
          <a:stretch>
            <a:fillRect/>
          </a:stretch>
        </p:blipFill>
        <p:spPr>
          <a:xfrm>
            <a:off x="571500" y="1255849"/>
            <a:ext cx="228600" cy="228600"/>
          </a:xfrm>
          <a:prstGeom prst="rect">
            <a:avLst/>
          </a:prstGeom>
        </p:spPr>
      </p:pic>
      <p:sp>
        <p:nvSpPr>
          <p:cNvPr id="6" name="Text 1"/>
          <p:cNvSpPr/>
          <p:nvPr/>
        </p:nvSpPr>
        <p:spPr>
          <a:xfrm>
            <a:off x="1000125" y="1259421"/>
            <a:ext cx="1250156" cy="226814"/>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0D1B2A"/>
                </a:solidFill>
                <a:latin typeface="Montserrat" pitchFamily="34" charset="0"/>
                <a:ea typeface="Montserrat" pitchFamily="34" charset="-122"/>
                <a:cs typeface="Montserrat" pitchFamily="34" charset="-120"/>
              </a:rPr>
              <a:t>Time Savings</a:t>
            </a:r>
            <a:endParaRPr lang="en-US" sz="1295" dirty="0"/>
          </a:p>
        </p:txBody>
      </p:sp>
      <p:sp>
        <p:nvSpPr>
          <p:cNvPr id="7" name="Text 2"/>
          <p:cNvSpPr/>
          <p:nvPr/>
        </p:nvSpPr>
        <p:spPr>
          <a:xfrm>
            <a:off x="571500" y="1618394"/>
            <a:ext cx="3857625" cy="617153"/>
          </a:xfrm>
          <a:prstGeom prst="rect">
            <a:avLst/>
          </a:prstGeom>
          <a:noFill/>
          <a:ln/>
        </p:spPr>
        <p:txBody>
          <a:bodyPr wrap="square" lIns="510286"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Significant reduction in hours spent on repetitive drafting and planning, allowing for faster campaign turnarounds.</a:t>
            </a:r>
            <a:endParaRPr lang="en-US" sz="942" dirty="0"/>
          </a:p>
        </p:txBody>
      </p:sp>
      <p:pic>
        <p:nvPicPr>
          <p:cNvPr id="8" name="Image 2" descr="preencoded.png">    </p:cNvPr>
          <p:cNvPicPr>
            <a:picLocks noChangeAspect="1"/>
          </p:cNvPicPr>
          <p:nvPr/>
        </p:nvPicPr>
        <p:blipFill>
          <a:blip r:embed="rId3"/>
          <a:stretch>
            <a:fillRect/>
          </a:stretch>
        </p:blipFill>
        <p:spPr>
          <a:xfrm>
            <a:off x="4714875" y="1255849"/>
            <a:ext cx="228600" cy="228600"/>
          </a:xfrm>
          <a:prstGeom prst="rect">
            <a:avLst/>
          </a:prstGeom>
        </p:spPr>
      </p:pic>
      <p:sp>
        <p:nvSpPr>
          <p:cNvPr id="9" name="Text 3"/>
          <p:cNvSpPr/>
          <p:nvPr/>
        </p:nvSpPr>
        <p:spPr>
          <a:xfrm>
            <a:off x="5143500" y="1259421"/>
            <a:ext cx="1735931" cy="226814"/>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0D1B2A"/>
                </a:solidFill>
                <a:latin typeface="Montserrat" pitchFamily="34" charset="0"/>
                <a:ea typeface="Montserrat" pitchFamily="34" charset="-122"/>
                <a:cs typeface="Montserrat" pitchFamily="34" charset="-120"/>
              </a:rPr>
              <a:t>Productivity Boost</a:t>
            </a:r>
            <a:endParaRPr lang="en-US" sz="1295" dirty="0"/>
          </a:p>
        </p:txBody>
      </p:sp>
      <p:sp>
        <p:nvSpPr>
          <p:cNvPr id="10" name="Text 4"/>
          <p:cNvSpPr/>
          <p:nvPr/>
        </p:nvSpPr>
        <p:spPr>
          <a:xfrm>
            <a:off x="4714875" y="1618394"/>
            <a:ext cx="3857625" cy="411435"/>
          </a:xfrm>
          <a:prstGeom prst="rect">
            <a:avLst/>
          </a:prstGeom>
          <a:noFill/>
          <a:ln/>
        </p:spPr>
        <p:txBody>
          <a:bodyPr wrap="square" lIns="510286"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Enabling the team to focus on high-level strategy and client relationships rather than manual execution.</a:t>
            </a:r>
            <a:endParaRPr lang="en-US" sz="942" dirty="0"/>
          </a:p>
        </p:txBody>
      </p:sp>
      <p:pic>
        <p:nvPicPr>
          <p:cNvPr id="11" name="Image 3" descr="preencoded.png">    </p:cNvPr>
          <p:cNvPicPr>
            <a:picLocks noChangeAspect="1"/>
          </p:cNvPicPr>
          <p:nvPr/>
        </p:nvPicPr>
        <p:blipFill>
          <a:blip r:embed="rId4"/>
          <a:stretch>
            <a:fillRect/>
          </a:stretch>
        </p:blipFill>
        <p:spPr>
          <a:xfrm>
            <a:off x="571500" y="2614166"/>
            <a:ext cx="200025" cy="228600"/>
          </a:xfrm>
          <a:prstGeom prst="rect">
            <a:avLst/>
          </a:prstGeom>
        </p:spPr>
      </p:pic>
      <p:sp>
        <p:nvSpPr>
          <p:cNvPr id="12" name="Text 5"/>
          <p:cNvSpPr/>
          <p:nvPr/>
        </p:nvSpPr>
        <p:spPr>
          <a:xfrm>
            <a:off x="1000125" y="2617738"/>
            <a:ext cx="950119" cy="226814"/>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0D1B2A"/>
                </a:solidFill>
                <a:latin typeface="Montserrat" pitchFamily="34" charset="0"/>
                <a:ea typeface="Montserrat" pitchFamily="34" charset="-122"/>
                <a:cs typeface="Montserrat" pitchFamily="34" charset="-120"/>
              </a:rPr>
              <a:t>Scalability</a:t>
            </a:r>
            <a:endParaRPr lang="en-US" sz="1295" dirty="0"/>
          </a:p>
        </p:txBody>
      </p:sp>
      <p:sp>
        <p:nvSpPr>
          <p:cNvPr id="13" name="Text 6"/>
          <p:cNvSpPr/>
          <p:nvPr/>
        </p:nvSpPr>
        <p:spPr>
          <a:xfrm>
            <a:off x="571500" y="2976711"/>
            <a:ext cx="3857625" cy="411435"/>
          </a:xfrm>
          <a:prstGeom prst="rect">
            <a:avLst/>
          </a:prstGeom>
          <a:noFill/>
          <a:ln/>
        </p:spPr>
        <p:txBody>
          <a:bodyPr wrap="square" lIns="510286"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The prompt library allows the agency to handle more clients without a proportional increase in headcount.</a:t>
            </a:r>
            <a:endParaRPr lang="en-US" sz="942" dirty="0"/>
          </a:p>
        </p:txBody>
      </p:sp>
      <p:pic>
        <p:nvPicPr>
          <p:cNvPr id="14" name="Image 4" descr="preencoded.png">    </p:cNvPr>
          <p:cNvPicPr>
            <a:picLocks noChangeAspect="1"/>
          </p:cNvPicPr>
          <p:nvPr/>
        </p:nvPicPr>
        <p:blipFill>
          <a:blip r:embed="rId5"/>
          <a:stretch>
            <a:fillRect/>
          </a:stretch>
        </p:blipFill>
        <p:spPr>
          <a:xfrm>
            <a:off x="4714875" y="2614166"/>
            <a:ext cx="228600" cy="228600"/>
          </a:xfrm>
          <a:prstGeom prst="rect">
            <a:avLst/>
          </a:prstGeom>
        </p:spPr>
      </p:pic>
      <p:sp>
        <p:nvSpPr>
          <p:cNvPr id="15" name="Text 7"/>
          <p:cNvSpPr/>
          <p:nvPr/>
        </p:nvSpPr>
        <p:spPr>
          <a:xfrm>
            <a:off x="5143500" y="2617738"/>
            <a:ext cx="1134070" cy="226814"/>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0D1B2A"/>
                </a:solidFill>
                <a:latin typeface="Montserrat" pitchFamily="34" charset="0"/>
                <a:ea typeface="Montserrat" pitchFamily="34" charset="-122"/>
                <a:cs typeface="Montserrat" pitchFamily="34" charset="-120"/>
              </a:rPr>
              <a:t>Consistency</a:t>
            </a:r>
            <a:endParaRPr lang="en-US" sz="1295" dirty="0"/>
          </a:p>
        </p:txBody>
      </p:sp>
      <p:sp>
        <p:nvSpPr>
          <p:cNvPr id="16" name="Text 8"/>
          <p:cNvSpPr/>
          <p:nvPr/>
        </p:nvSpPr>
        <p:spPr>
          <a:xfrm>
            <a:off x="4714875" y="2976711"/>
            <a:ext cx="3857625" cy="411435"/>
          </a:xfrm>
          <a:prstGeom prst="rect">
            <a:avLst/>
          </a:prstGeom>
          <a:noFill/>
          <a:ln/>
        </p:spPr>
        <p:txBody>
          <a:bodyPr wrap="square" lIns="510286" tIns="0" rIns="0" bIns="0" rtlCol="0" anchor="t">
            <a:spAutoFit/>
          </a:bodyPr>
          <a:lstStyle/>
          <a:p>
            <a:pPr algn="l" indent="0" marL="0">
              <a:lnSpc>
                <a:spcPts val="1600"/>
              </a:lnSpc>
              <a:buNone/>
            </a:pPr>
            <a:r>
              <a:rPr lang="en-US" sz="942" dirty="0">
                <a:solidFill>
                  <a:srgbClr val="1B263B"/>
                </a:solidFill>
                <a:latin typeface="Inter" pitchFamily="34" charset="0"/>
                <a:ea typeface="Inter" pitchFamily="34" charset="-122"/>
                <a:cs typeface="Inter" pitchFamily="34" charset="-120"/>
              </a:rPr>
              <a:t>Standardized high-quality output across all marketing touchpoints, reinforcing brand authority.</a:t>
            </a:r>
            <a:endParaRPr lang="en-US" sz="942" dirty="0"/>
          </a:p>
        </p:txBody>
      </p:sp>
      <p:sp>
        <p:nvSpPr>
          <p:cNvPr id="17" name="Shape 9"/>
          <p:cNvSpPr/>
          <p:nvPr/>
        </p:nvSpPr>
        <p:spPr>
          <a:xfrm>
            <a:off x="571500" y="3816772"/>
            <a:ext cx="6449020" cy="532209"/>
          </a:xfrm>
          <a:prstGeom prst="rect">
            <a:avLst/>
          </a:prstGeom>
          <a:solidFill>
            <a:srgbClr val="FFFFFF"/>
          </a:solidFill>
          <a:ln w="27432">
            <a:solidFill>
              <a:srgbClr val="0D1B2A"/>
            </a:solidFill>
            <a:prstDash val="solid"/>
          </a:ln>
        </p:spPr>
      </p:sp>
      <p:sp>
        <p:nvSpPr>
          <p:cNvPr id="18" name="Text 10"/>
          <p:cNvSpPr/>
          <p:nvPr/>
        </p:nvSpPr>
        <p:spPr>
          <a:xfrm>
            <a:off x="785813" y="3959647"/>
            <a:ext cx="5963245"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D1B2A"/>
                </a:solidFill>
                <a:latin typeface="Inter" pitchFamily="34" charset="0"/>
                <a:ea typeface="Inter" pitchFamily="34" charset="-122"/>
                <a:cs typeface="Inter" pitchFamily="34" charset="-120"/>
              </a:rPr>
              <a:t>AI doesn't just save time; it creates the capacity for exponential agency growth.</a:t>
            </a:r>
            <a:endParaRPr lang="en-US" sz="10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807439"/>
            <a:ext cx="4429125" cy="880077"/>
          </a:xfrm>
          <a:prstGeom prst="rect">
            <a:avLst/>
          </a:prstGeom>
          <a:noFill/>
          <a:ln/>
        </p:spPr>
        <p:txBody>
          <a:bodyPr wrap="square" lIns="0" tIns="0" rIns="0" bIns="0" rtlCol="0" anchor="t">
            <a:spAutoFit/>
          </a:bodyPr>
          <a:lstStyle/>
          <a:p>
            <a:pPr algn="l" indent="0" marL="0">
              <a:lnSpc>
                <a:spcPts val="3500"/>
              </a:lnSpc>
              <a:buNone/>
            </a:pPr>
            <a:r>
              <a:rPr lang="en-US" sz="2862" b="1" i="1" dirty="0">
                <a:solidFill>
                  <a:srgbClr val="0D1B2A"/>
                </a:solidFill>
                <a:latin typeface="Montserrat" pitchFamily="34" charset="0"/>
                <a:ea typeface="Montserrat" pitchFamily="34" charset="-122"/>
                <a:cs typeface="Montserrat" pitchFamily="34" charset="-120"/>
              </a:rPr>
              <a:t>A PRACTICAL PATH</a:t>
            </a:r>
            <a:r>
              <a:rPr lang="en-US" sz="2862" b="1" i="1" dirty="0">
                <a:solidFill>
                  <a:srgbClr val="0D1B2A"/>
                </a:solidFill>
                <a:latin typeface="Montserrat" pitchFamily="34" charset="0"/>
                <a:ea typeface="Montserrat" pitchFamily="34" charset="-122"/>
                <a:cs typeface="Montserrat" pitchFamily="34" charset="-120"/>
              </a:rPr>
              <a:t>
</a:t>
            </a:r>
            <a:r>
              <a:rPr lang="en-US" sz="2862" b="1" i="1" dirty="0">
                <a:solidFill>
                  <a:srgbClr val="0D1B2A"/>
                </a:solidFill>
                <a:latin typeface="Montserrat" pitchFamily="34" charset="0"/>
                <a:ea typeface="Montserrat" pitchFamily="34" charset="-122"/>
                <a:cs typeface="Montserrat" pitchFamily="34" charset="-120"/>
              </a:rPr>
              <a:t>TO GROWTH</a:t>
            </a:r>
            <a:endParaRPr lang="en-US" sz="2862" dirty="0"/>
          </a:p>
        </p:txBody>
      </p:sp>
      <p:pic>
        <p:nvPicPr>
          <p:cNvPr id="5" name="Image 1" descr="preencoded.png">    </p:cNvPr>
          <p:cNvPicPr>
            <a:picLocks noChangeAspect="1"/>
          </p:cNvPicPr>
          <p:nvPr/>
        </p:nvPicPr>
        <p:blipFill>
          <a:blip r:embed="rId2"/>
          <a:stretch>
            <a:fillRect/>
          </a:stretch>
        </p:blipFill>
        <p:spPr>
          <a:xfrm>
            <a:off x="571500" y="1982195"/>
            <a:ext cx="150019" cy="171450"/>
          </a:xfrm>
          <a:prstGeom prst="rect">
            <a:avLst/>
          </a:prstGeom>
        </p:spPr>
      </p:pic>
      <p:sp>
        <p:nvSpPr>
          <p:cNvPr id="6" name="Text 1"/>
          <p:cNvSpPr/>
          <p:nvPr/>
        </p:nvSpPr>
        <p:spPr>
          <a:xfrm>
            <a:off x="828675" y="1973266"/>
            <a:ext cx="1987748" cy="189309"/>
          </a:xfrm>
          <a:prstGeom prst="rect">
            <a:avLst/>
          </a:prstGeom>
          <a:noFill/>
          <a:ln/>
        </p:spPr>
        <p:txBody>
          <a:bodyPr wrap="none" lIns="0" tIns="0" rIns="0" bIns="0" rtlCol="0" anchor="t">
            <a:spAutoFit/>
          </a:bodyPr>
          <a:lstStyle/>
          <a:p>
            <a:pPr algn="l" indent="0" marL="0">
              <a:lnSpc>
                <a:spcPts val="1500"/>
              </a:lnSpc>
              <a:buNone/>
            </a:pPr>
            <a:r>
              <a:rPr lang="en-US" sz="1159" dirty="0">
                <a:solidFill>
                  <a:srgbClr val="1B263B"/>
                </a:solidFill>
                <a:latin typeface="Inter" pitchFamily="34" charset="0"/>
                <a:ea typeface="Inter" pitchFamily="34" charset="-122"/>
                <a:cs typeface="Inter" pitchFamily="34" charset="-120"/>
              </a:rPr>
              <a:t>Scalable AI Prompt Library</a:t>
            </a:r>
            <a:endParaRPr lang="en-US" sz="1159" dirty="0"/>
          </a:p>
        </p:txBody>
      </p:sp>
      <p:pic>
        <p:nvPicPr>
          <p:cNvPr id="7" name="Image 2" descr="preencoded.png">    </p:cNvPr>
          <p:cNvPicPr>
            <a:picLocks noChangeAspect="1"/>
          </p:cNvPicPr>
          <p:nvPr/>
        </p:nvPicPr>
        <p:blipFill>
          <a:blip r:embed="rId3"/>
          <a:stretch>
            <a:fillRect/>
          </a:stretch>
        </p:blipFill>
        <p:spPr>
          <a:xfrm>
            <a:off x="571500" y="2314380"/>
            <a:ext cx="150019" cy="171450"/>
          </a:xfrm>
          <a:prstGeom prst="rect">
            <a:avLst/>
          </a:prstGeom>
        </p:spPr>
      </p:pic>
      <p:sp>
        <p:nvSpPr>
          <p:cNvPr id="8" name="Text 2"/>
          <p:cNvSpPr/>
          <p:nvPr/>
        </p:nvSpPr>
        <p:spPr>
          <a:xfrm>
            <a:off x="828675" y="2305450"/>
            <a:ext cx="2632472" cy="189309"/>
          </a:xfrm>
          <a:prstGeom prst="rect">
            <a:avLst/>
          </a:prstGeom>
          <a:noFill/>
          <a:ln/>
        </p:spPr>
        <p:txBody>
          <a:bodyPr wrap="none" lIns="0" tIns="0" rIns="0" bIns="0" rtlCol="0" anchor="t">
            <a:spAutoFit/>
          </a:bodyPr>
          <a:lstStyle/>
          <a:p>
            <a:pPr algn="l" indent="0" marL="0">
              <a:lnSpc>
                <a:spcPts val="1500"/>
              </a:lnSpc>
              <a:buNone/>
            </a:pPr>
            <a:r>
              <a:rPr lang="en-US" sz="1159" dirty="0">
                <a:solidFill>
                  <a:srgbClr val="1B263B"/>
                </a:solidFill>
                <a:latin typeface="Inter" pitchFamily="34" charset="0"/>
                <a:ea typeface="Inter" pitchFamily="34" charset="-122"/>
                <a:cs typeface="Inter" pitchFamily="34" charset="-120"/>
              </a:rPr>
              <a:t>Standardized Marketing Workflows</a:t>
            </a:r>
            <a:endParaRPr lang="en-US" sz="1159" dirty="0"/>
          </a:p>
        </p:txBody>
      </p:sp>
      <p:pic>
        <p:nvPicPr>
          <p:cNvPr id="9" name="Image 3" descr="preencoded.png">    </p:cNvPr>
          <p:cNvPicPr>
            <a:picLocks noChangeAspect="1"/>
          </p:cNvPicPr>
          <p:nvPr/>
        </p:nvPicPr>
        <p:blipFill>
          <a:blip r:embed="rId4"/>
          <a:stretch>
            <a:fillRect/>
          </a:stretch>
        </p:blipFill>
        <p:spPr>
          <a:xfrm>
            <a:off x="571500" y="2646564"/>
            <a:ext cx="150019" cy="171450"/>
          </a:xfrm>
          <a:prstGeom prst="rect">
            <a:avLst/>
          </a:prstGeom>
        </p:spPr>
      </p:pic>
      <p:sp>
        <p:nvSpPr>
          <p:cNvPr id="10" name="Text 3"/>
          <p:cNvSpPr/>
          <p:nvPr/>
        </p:nvSpPr>
        <p:spPr>
          <a:xfrm>
            <a:off x="828675" y="2637634"/>
            <a:ext cx="2669977" cy="189309"/>
          </a:xfrm>
          <a:prstGeom prst="rect">
            <a:avLst/>
          </a:prstGeom>
          <a:noFill/>
          <a:ln/>
        </p:spPr>
        <p:txBody>
          <a:bodyPr wrap="none" lIns="0" tIns="0" rIns="0" bIns="0" rtlCol="0" anchor="t">
            <a:spAutoFit/>
          </a:bodyPr>
          <a:lstStyle/>
          <a:p>
            <a:pPr algn="l" indent="0" marL="0">
              <a:lnSpc>
                <a:spcPts val="1500"/>
              </a:lnSpc>
              <a:buNone/>
            </a:pPr>
            <a:r>
              <a:rPr lang="en-US" sz="1159" dirty="0">
                <a:solidFill>
                  <a:srgbClr val="1B263B"/>
                </a:solidFill>
                <a:latin typeface="Inter" pitchFamily="34" charset="0"/>
                <a:ea typeface="Inter" pitchFamily="34" charset="-122"/>
                <a:cs typeface="Inter" pitchFamily="34" charset="-120"/>
              </a:rPr>
              <a:t>Human-in-the-Loop Quality Control</a:t>
            </a:r>
            <a:endParaRPr lang="en-US" sz="1159" dirty="0"/>
          </a:p>
        </p:txBody>
      </p:sp>
      <p:sp>
        <p:nvSpPr>
          <p:cNvPr id="11" name="Shape 4"/>
          <p:cNvSpPr/>
          <p:nvPr/>
        </p:nvSpPr>
        <p:spPr>
          <a:xfrm>
            <a:off x="571500" y="3327006"/>
            <a:ext cx="3854053" cy="1009055"/>
          </a:xfrm>
          <a:prstGeom prst="rect">
            <a:avLst/>
          </a:prstGeom>
          <a:solidFill>
            <a:srgbClr val="FFFFFF"/>
          </a:solidFill>
          <a:ln w="27432">
            <a:solidFill>
              <a:srgbClr val="0D1B2A"/>
            </a:solidFill>
            <a:prstDash val="solid"/>
          </a:ln>
        </p:spPr>
      </p:sp>
      <p:sp>
        <p:nvSpPr>
          <p:cNvPr id="12" name="Text 5"/>
          <p:cNvSpPr/>
          <p:nvPr/>
        </p:nvSpPr>
        <p:spPr>
          <a:xfrm>
            <a:off x="857250" y="3569894"/>
            <a:ext cx="3225403" cy="278606"/>
          </a:xfrm>
          <a:prstGeom prst="rect">
            <a:avLst/>
          </a:prstGeom>
          <a:noFill/>
          <a:ln/>
        </p:spPr>
        <p:txBody>
          <a:bodyPr wrap="none" lIns="0" tIns="0" rIns="0" bIns="0" rtlCol="0" anchor="t">
            <a:spAutoFit/>
          </a:bodyPr>
          <a:lstStyle/>
          <a:p>
            <a:pPr algn="l" indent="0" marL="0">
              <a:lnSpc>
                <a:spcPts val="2200"/>
              </a:lnSpc>
              <a:buNone/>
            </a:pPr>
            <a:r>
              <a:rPr lang="en-US" sz="1602" b="1" i="1" dirty="0">
                <a:solidFill>
                  <a:srgbClr val="E63946"/>
                </a:solidFill>
                <a:latin typeface="Montserrat" pitchFamily="34" charset="0"/>
                <a:ea typeface="Montserrat" pitchFamily="34" charset="-122"/>
                <a:cs typeface="Montserrat" pitchFamily="34" charset="-120"/>
              </a:rPr>
              <a:t>READY TO TRANSFORM?</a:t>
            </a:r>
            <a:endParaRPr lang="en-US" sz="1602" dirty="0"/>
          </a:p>
        </p:txBody>
      </p:sp>
      <p:sp>
        <p:nvSpPr>
          <p:cNvPr id="13" name="Text 6"/>
          <p:cNvSpPr/>
          <p:nvPr/>
        </p:nvSpPr>
        <p:spPr>
          <a:xfrm>
            <a:off x="857250" y="3919937"/>
            <a:ext cx="322540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D1B2A"/>
                </a:solidFill>
                <a:latin typeface="Inter" pitchFamily="34" charset="0"/>
                <a:ea typeface="Inter" pitchFamily="34" charset="-122"/>
                <a:cs typeface="Inter" pitchFamily="34" charset="-120"/>
              </a:rPr>
              <a:t>Let's implement your AI-driven workflow today.</a:t>
            </a:r>
            <a:endParaRPr lang="en-US" sz="987" dirty="0"/>
          </a:p>
        </p:txBody>
      </p:sp>
      <p:sp>
        <p:nvSpPr>
          <p:cNvPr id="14" name="Text 7"/>
          <p:cNvSpPr/>
          <p:nvPr/>
        </p:nvSpPr>
        <p:spPr>
          <a:xfrm>
            <a:off x="6545461" y="4296966"/>
            <a:ext cx="2027039" cy="417909"/>
          </a:xfrm>
          <a:prstGeom prst="rect">
            <a:avLst/>
          </a:prstGeom>
          <a:noFill/>
          <a:ln/>
        </p:spPr>
        <p:txBody>
          <a:bodyPr wrap="square" lIns="0" tIns="0" rIns="0" bIns="0" rtlCol="0" anchor="t">
            <a:spAutoFit/>
          </a:bodyPr>
          <a:lstStyle/>
          <a:p>
            <a:pPr algn="r" indent="0" marL="0">
              <a:lnSpc>
                <a:spcPts val="1600"/>
              </a:lnSpc>
              <a:buNone/>
            </a:pPr>
            <a:r>
              <a:rPr lang="en-US" sz="1193" b="1" dirty="0">
                <a:solidFill>
                  <a:srgbClr val="FAFAFA"/>
                </a:solidFill>
                <a:latin typeface="Montserrat" pitchFamily="34" charset="0"/>
                <a:ea typeface="Montserrat" pitchFamily="34" charset="-122"/>
                <a:cs typeface="Montserrat" pitchFamily="34" charset="-120"/>
              </a:rPr>
              <a:t>Thank You.</a:t>
            </a:r>
            <a:r>
              <a:rPr lang="en-US" sz="1193" b="1" dirty="0">
                <a:solidFill>
                  <a:srgbClr val="FAFAFA"/>
                </a:solidFill>
                <a:latin typeface="Montserrat" pitchFamily="34" charset="0"/>
                <a:ea typeface="Montserrat" pitchFamily="34" charset="-122"/>
                <a:cs typeface="Montserrat" pitchFamily="34" charset="-120"/>
              </a:rPr>
              <a:t>
</a:t>
            </a:r>
            <a:r>
              <a:rPr lang="en-US" sz="1193" b="1" dirty="0">
                <a:solidFill>
                  <a:srgbClr val="FAFAFA"/>
                </a:solidFill>
                <a:latin typeface="Montserrat" pitchFamily="34" charset="0"/>
                <a:ea typeface="Montserrat" pitchFamily="34" charset="-122"/>
                <a:cs typeface="Montserrat" pitchFamily="34" charset="-120"/>
              </a:rPr>
              <a:t>Questions &amp; Discussion</a:t>
            </a:r>
            <a:endParaRPr lang="en-US" sz="119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2026-03-30T05:18:52Z</dcterms:created>
  <dcterms:modified xsi:type="dcterms:W3CDTF">2026-03-30T05:18:52Z</dcterms:modified>
</cp:coreProperties>
</file>